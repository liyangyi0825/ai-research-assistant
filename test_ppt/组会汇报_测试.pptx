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组会汇报封面：天能Power 5016 Pro液冷储能系统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这是天能推出的大型液冷储能系统，主要面向工商业和电网侧应用。产品已通过主流国际认证，具备全球市场准入资质。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安全是储能系统核心，采用实时监控配合液冷技术，同时配备完整消防系统，包括烟感、热感、气体检测等多重保护。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通过智能温控系统和在线监控，有效降低系统辅助能耗，提升整体运行效率，减少长期运营成本。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产品设计充分考虑实际部署需求，预装交付大幅缩短现场安装时间，灵活的安装方式适应不同场地条件。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系统采用12个电池簇串并联配置，工作电压覆盖范围宽，IP55防护等级适应户外环境。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系统具备优异的环境适应能力，宽温度范围和高海拔适应性使其可在多种严苛环境下稳定运行。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电芯采用高性能磷酸铁锂技术，能量密度和循环寿命均达到行业领先水平，支持100%DOD深度放电。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产品已完成开发和认证，下一步重点是实际项目部署，通过现场数据反馈持续优化系统性能。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汇报结束，感谢大家的聆听，欢迎提问交流。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9164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天能Power 5016 Pro液冷储能系统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E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5016kWh液冷储能解决方案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64008" cy="118872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116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汇报人：汇报人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日期：2026年6月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321040" y="3200400"/>
            <a:ext cx="502920" cy="502920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D4EBD9"/>
          </a:solidFill>
          <a:ln w="12700">
            <a:solidFill>
              <a:srgbClr val="D4EBD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  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1399032"/>
            <a:ext cx="36576" cy="3108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3258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产品概述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88720" y="2039112"/>
            <a:ext cx="36576" cy="3108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965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核心技术特点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88720" y="2679192"/>
            <a:ext cx="36576" cy="3108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2606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系统技术参数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3246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88720" y="3319272"/>
            <a:ext cx="36576" cy="3108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246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电芯技术规格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3886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88720" y="3959352"/>
            <a:ext cx="36576" cy="3108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3886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总结展望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产品定位与应用场景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5039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25296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基于314Ah磷酸铁锂方形电芯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938528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105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标称容量5016kWh，2-4小时储能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651760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2374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适用工商业、电网级储能应用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3364992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23697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已获UL、IEC等国际认证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78224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9502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符合NFPA 855等安全标准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55280" y="4160520"/>
            <a:ext cx="1188720" cy="1188720"/>
          </a:xfrm>
          <a:prstGeom prst="ellipse">
            <a:avLst/>
          </a:prstGeom>
          <a:solidFill>
            <a:srgbClr val="D4EBD9"/>
          </a:solidFill>
          <a:ln w="12700">
            <a:solidFill>
              <a:srgbClr val="D4EBD9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高安全性设计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5039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25296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实时监控电芯全维度数据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938528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105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新型液冷系统提升均衡性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651760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2374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完整消防系统：气溶胶+多探测器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3364992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23697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智能通风与泄压装置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78224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9502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多层级安全保护机制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55280" y="4160520"/>
            <a:ext cx="1188720" cy="1188720"/>
          </a:xfrm>
          <a:prstGeom prst="ellipse">
            <a:avLst/>
          </a:prstGeom>
          <a:solidFill>
            <a:srgbClr val="D4EBD9"/>
          </a:solidFill>
          <a:ln w="12700">
            <a:solidFill>
              <a:srgbClr val="D4EBD9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低能耗与智能控制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5039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25296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智能液冷温控系统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938528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105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优化辅助功耗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651760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2374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在线智能监控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3364992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23697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确保高效运行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78224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9502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降低运营成本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55280" y="4160520"/>
            <a:ext cx="1188720" cy="1188720"/>
          </a:xfrm>
          <a:prstGeom prst="ellipse">
            <a:avLst/>
          </a:prstGeom>
          <a:solidFill>
            <a:srgbClr val="D4EBD9"/>
          </a:solidFill>
          <a:ln w="12700">
            <a:solidFill>
              <a:srgbClr val="D4EBD9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成本优化与部署优势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5039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25296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支持背靠背/并排安装节省空间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938528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105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整体预装交付即插即用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651760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2374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灵活部署快速安装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3364992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23697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长寿命电芯保障收益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78224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9502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高性价比解决方案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55280" y="4160520"/>
            <a:ext cx="1188720" cy="1188720"/>
          </a:xfrm>
          <a:prstGeom prst="ellipse">
            <a:avLst/>
          </a:prstGeom>
          <a:solidFill>
            <a:srgbClr val="D4EBD9"/>
          </a:solidFill>
          <a:ln w="12700">
            <a:solidFill>
              <a:srgbClr val="D4EBD9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系统核心参数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5039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25296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配置：12组1P416S，标称电压1331V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938528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105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工作电压范围：1040-1497.6V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651760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2374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充放电倍率：0.5C/0.5C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3364992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23697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尺寸：6058×2896×2438mm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78224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9502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防护等级IP55，重量&lt;42吨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55280" y="4160520"/>
            <a:ext cx="1188720" cy="1188720"/>
          </a:xfrm>
          <a:prstGeom prst="ellipse">
            <a:avLst/>
          </a:prstGeom>
          <a:solidFill>
            <a:srgbClr val="D4EBD9"/>
          </a:solidFill>
          <a:ln w="12700">
            <a:solidFill>
              <a:srgbClr val="D4EBD9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环境适应性能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5039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25296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工作温度：-30℃至50℃（&gt;45℃降额）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938528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105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湿度范围：0-95%非冷凝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651760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2374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最高海拔4000米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3364992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23697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防腐等级C3/C4/C5可选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78224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9502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智能液冷温控系统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55280" y="4160520"/>
            <a:ext cx="1188720" cy="1188720"/>
          </a:xfrm>
          <a:prstGeom prst="ellipse">
            <a:avLst/>
          </a:prstGeom>
          <a:solidFill>
            <a:srgbClr val="D4EBD9"/>
          </a:solidFill>
          <a:ln w="12700">
            <a:solidFill>
              <a:srgbClr val="D4EBD9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电芯技术指标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5039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25296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型号TNSA71173207B314，314Ah磷酸铁锂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938528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105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质量能量密度≥185Wh/kg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651760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2374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体积能量密度≥420Wh/L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3364992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23697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循环寿命≥10000次（70%SOH）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78224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9502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工作温度：-35℃至65℃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55280" y="4160520"/>
            <a:ext cx="1188720" cy="1188720"/>
          </a:xfrm>
          <a:prstGeom prst="ellipse">
            <a:avLst/>
          </a:prstGeom>
          <a:solidFill>
            <a:srgbClr val="D4EBD9"/>
          </a:solidFill>
          <a:ln w="12700">
            <a:solidFill>
              <a:srgbClr val="D4EBD9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下一步工作计划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50392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25296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完成现场安装调试验证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938528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105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收集实际运行数据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651760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2374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评估长期性能表现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3364992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23697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优化控制策略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78224"/>
            <a:ext cx="128016" cy="12801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9502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拓展应用场景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55280" y="4160520"/>
            <a:ext cx="1188720" cy="1188720"/>
          </a:xfrm>
          <a:prstGeom prst="ellipse">
            <a:avLst/>
          </a:prstGeom>
          <a:solidFill>
            <a:srgbClr val="D4EBD9"/>
          </a:solidFill>
          <a:ln w="12700">
            <a:solidFill>
              <a:srgbClr val="D4EBD9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457200"/>
            <a:ext cx="4114800" cy="4114800"/>
          </a:xfrm>
          <a:prstGeom prst="ellipse">
            <a:avLst/>
          </a:prstGeom>
          <a:solidFill>
            <a:srgbClr val="D4EBD9"/>
          </a:solidFill>
          <a:ln w="12700">
            <a:solidFill>
              <a:srgbClr val="D4E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087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汇报结束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286000" cy="54864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92608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欢迎讨论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2026-06-14T17:56:47Z</dcterms:created>
  <dcterms:modified xsi:type="dcterms:W3CDTF">2026-06-14T17:56:47Z</dcterms:modified>
</cp:coreProperties>
</file>